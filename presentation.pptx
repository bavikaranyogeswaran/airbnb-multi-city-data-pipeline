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5A5F"/>
                </a:solidFill>
              </a:rPr>
              <a:t>EXPERNE'C TALENT ASSESSMENT  |  DATA ENGINEER INTERN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Inside Airbnb Intelligence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0248" y="2651760"/>
            <a:ext cx="3657600" cy="36576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Multi-City Analysis  |  September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2636" y="338328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2636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London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8556" y="338328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8556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Amsterdam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338328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4476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Madrid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0396" y="338328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0396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Berlin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FastAPI  |  LightGBM  |  K-Means  |  DuckDB  |  Groq  |  React  |  AWS EC2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96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Dataset Overview — 4 cities, 146K listings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470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671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854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System Architecture — pipeline to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529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712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EDA — Price, Neighbourhood, Host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186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387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570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Temporal Patterns &amp; Review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044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24527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428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519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Statistical Hypothesis Testing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902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10327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286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OLS Regression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760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4813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4996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508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ML Price Prediction — LightGBM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8470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1671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1854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194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Market Segmentation — K-Means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5328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8529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8712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Host Segmentation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186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538728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5570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566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LLM Integration — Groq + Text-to-SQL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9044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4224527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2428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2519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Cross-City Comparison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5902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910327"/>
            <a:ext cx="347472" cy="347472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286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9377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Key Findings &amp; Completion Status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276088"/>
            <a:ext cx="566928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insideairbnb.com  |  September 2025 snapshots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  <a:gridCol w="146304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Snapshot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Raw listings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Price-eligible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Unique hosts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 price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London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2025-09-14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96,871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61,963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55,646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135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Amsterdam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2025-09-11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10,480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5,874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9,201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222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Madrid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2025-09-14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18,953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10,453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105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Berlin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2025-09-23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14,274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9,264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9,464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 89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383280"/>
            <a:ext cx="3657600" cy="118872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TOTAL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146,625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330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Across all 4 cities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3383280"/>
            <a:ext cx="3657600" cy="118872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3456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PRICE-ELIGIBLE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 96,054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1330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Excl. null-price listings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3383280"/>
            <a:ext cx="3657600" cy="118872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3456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UNIQUE HOSTS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3703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 84,764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1330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Across all 4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NYC note: all 36,261 listings had null prices under NYC Local Law 18 (Sept 2023). Ingest + warehouse completed; ML/clustering skipped.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End-to-end: raw data to interactive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DATA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insideairbnb.com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56815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London  Amsterdam  Madrid  Berlin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04288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Ingestion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71215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1693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Cleaning + Enrichment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90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71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38144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83863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DuckDB Warehouse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5 dim + 3 fact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05072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1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EDA + Stats + ML +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23 CSVs +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Pre-computed Artefacts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9145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Parquet / DuckDB /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4630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SERVING STACK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1737360"/>
            <a:ext cx="5120640" cy="59436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8288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066543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50+ endpoints  |  OpenAPI /docs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560320"/>
            <a:ext cx="5120640" cy="5943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6517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nginx  :80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889503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/api -&gt; FastAPI  |  / -&gt; React static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383280"/>
            <a:ext cx="5120640" cy="59436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4747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71246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 pages  |  Recharts  |  Leaflet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solidFill>
            <a:srgbClr val="08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DOCKER COMPOSE  |  AWS EC2 t3.micro  |  13.53.108.244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081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airbnb-api (:8000)  +  airbnb-dashboard (:80)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3 -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Price Distribution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0058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Mean/Median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P99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London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135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229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1.70x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1,100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Amsterdam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222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285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1.28x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850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Madrid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105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138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1.31x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500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Berlin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 89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112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1.26x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400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33756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Room type (London)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Listings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Entire home/apt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62,907 (64.9%)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175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Private room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33,643 (34.7%)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 61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Hotel room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 562  ( 0.6%)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195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Shared room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 759  ( 0.8%)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 55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309360" y="1417320"/>
            <a:ext cx="36576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440680" cy="105156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721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F-01  Highly Right-Skewed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2"/>
            <a:ext cx="52120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London mean/median gap of 70% is driven by luxury tail. Log-price transformation used for all models. Amsterdam has least skew (1.28x) -- regulatory filter removes low-quality operators.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606040"/>
            <a:ext cx="36576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606040"/>
            <a:ext cx="5440680" cy="86868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6090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F-02  Entire Homes 2.9x Private Room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620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Room type is the primary segmentation variable. Citywide medians mislead without room-type stratification.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611880"/>
            <a:ext cx="36576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611880"/>
            <a:ext cx="5440680" cy="86868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667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Cross-city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679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Amsterdam highest median (EUR 222) despite smallest market. Regulatory environment selects for premium committed operators. Berlin lowest (EUR 89).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3 -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Neighbourhood &amp; Geographic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TOP 5 LONDON BOROUGHS BY MEDIAN PRICE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5778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Borough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Listings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City of London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248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1,847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Kensington &amp; Chelsea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225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5,234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Westminster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220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10,891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Camden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185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7,432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Hammersmith &amp; Fulham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175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3,891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PRICE BY DISTANCE FROM CENTRE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14800"/>
          <a:ext cx="55778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Distance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0-2 km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220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2-5 km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165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-25%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5-10 km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135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-18%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10-20 km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115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-15%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20+ km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 95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-17%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1417320"/>
            <a:ext cx="36576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440680" cy="123444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721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F-03  Borough Drives More Variance Than Room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Borough spread exceeds GBP 150/night. Borough + room type together explain the majority of price variance. Neither alone is sufficient for benchmarking.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88920"/>
            <a:ext cx="36576" cy="1417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88920"/>
            <a:ext cx="5440680" cy="141732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437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F-04  Monotonic Centre-Periphery Gradient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4495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Listings closest to Trafalgar Square command a consistent premium. Distance-from-centre is a tractable, defensible pricing input.
Note: London is polycentric -- Canary Wharf and Shoreditch are distinct demand clusters not captured by a single reference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3 -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Host Analysis &amp; Tenure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HOST SEGMENTS - LONDON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Hosts 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Supply 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Solo (1 listing)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83.8%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48.2%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130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Multi (2-5)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20.1%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145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Professional (6-20)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2.2%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11.6%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175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Commercial (21+)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0.9%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15.2%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195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TENURE vs OCCUPANCY - LONDON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476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55448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Tenure band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Occupancy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Superhost 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New (0-2 yr)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8%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Established (2-5 yr)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52%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18%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Experienced (5-10 yr)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71%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28%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Veteran (10+ yr)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45%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1417320"/>
            <a:ext cx="36576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440680" cy="118872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721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F-05  Supply Highly Concentrated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Top 1% of hosts (556) control 19.3% of listings. Top 10% control 42.9%. Commercial segment (0.9% hosts) holds 15.2% of supply -- resembling a managed-property market.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36576" cy="11887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43200"/>
            <a:ext cx="5440680" cy="118872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9806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F-11  Tenure = Strongest Occupancy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9923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Veterans (10+ yr) achieve 92% occupancy vs 30% for new hosts -- a 3x gap. Steeper than room type, borough, or segment differences.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069080"/>
            <a:ext cx="36576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069080"/>
            <a:ext cx="5440680" cy="100584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239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F-06  Response Rate drives Superhost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2511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Hosts with response rate &gt;= 96% have the highest superhost rates, ratings, and occupancy. Highest-ROI quality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Hypothesis testing (alpha = 0.05)  |  Mann-Whitney U  |  Kruskal-Wallis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9144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1828800"/>
                <a:gridCol w="1097280"/>
                <a:gridCol w="128016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Hypothesis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Effect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Entire homes priced &gt; private rooms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Mann-Whitney U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Large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Superhosts rated higher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Mann-Whitney U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Small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Multi-listing hosts price differently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Kruskal-Wallis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Occupancy decreases with min nights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Spearman rho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Central listings priced &gt; outer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Mann-Whitney U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Large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794760"/>
            <a:ext cx="36576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5532120" cy="105156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962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All 5 H0 rejected  |  OLS R2 = 0.641 (London)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2"/>
            <a:ext cx="5303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Room type and location are the largest drivers. Superhost effect (H2) is statistically significant but practically small (~0.05-0.10 rating points).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794760"/>
            <a:ext cx="36576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794760"/>
            <a:ext cx="5440680" cy="105156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962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H2 Reversal in Amsterdam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50792"/>
            <a:ext cx="52120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Amsterdam non-superhosts have a marginally higher median rating (4.93 vs 4.91). Regulatory filter already removes poor operators -- new high-performing hosts may not yet qualify for superhost badge.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 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LightGBM  |  GroupShuffleSplit by host_id  |  36 features  |  log(price)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188720"/>
                <a:gridCol w="73152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Within 20%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London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77.47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0.690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49.6%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Amsterdam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80.68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0.617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54.1%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Madrid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46.85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Berlin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46.44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46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TOP SHAP FEATURES (LONDON)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55778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SHAP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room_type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0.412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Entire home -&gt; up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neighbourhood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0.287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Central -&gt; up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accommodates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0.198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Larger -&gt; up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availability_365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0.089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More avail. -&gt; down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reviews_per_month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0.038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High turnover -&gt; down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1417320"/>
            <a:ext cx="36576" cy="18288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440680" cy="182880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721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Cross-City Transfer: London -&gt; Amsterdam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2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In-city:   MAE EUR 80.68  |  R2 +0.617  |  Within 20%: 54.1%
Cross-city: MAE EUR 174.52 |  R2 -2.058 |  Within 20%: 18.3%
Root cause: TargetEncoder maps all 22 Amsterdam neighbourhood names to London's global mean -- eliminating the largest predictor. Per-city retraining is mandatory.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K-Means  |  9 features  |  k auto-selected via elbow + silhouette sweep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LONDON (k=5)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55778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% 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Outer City Budget Rooms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22.3%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 67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High-Turnover City Lets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 96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New &amp; Unreviewed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2.7%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121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Standard City Apartments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33.5%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134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Premium Spacious Apartments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GBP 262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AMSTERDAM (k=5)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931920"/>
          <a:ext cx="55778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% 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High-Turnover Private Rooms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147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Part-Time City Apartments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30.2%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187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New &amp; Unreviewed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3.1%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195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Well-Available City Apts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241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Premium Spacious Apartments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EUR 333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309360" y="1417320"/>
            <a:ext cx="36576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5440680" cy="146304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721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Universal Segment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All 4 cities produce the same 5 archetypes: budget/economy, high-turnover lets, new/unreviewed fringe, mid-market, premium spacious. Madrid and Berlin use k=8 for more granular mid-market tiers.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063240"/>
            <a:ext cx="2606040" cy="914400"/>
          </a:xfrm>
          <a:prstGeom prst="rect">
            <a:avLst/>
          </a:prstGeom>
          <a:solidFill>
            <a:srgbClr val="121C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272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Silhouette (listings)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0.150 - 0.172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Moderate -- overlapping expected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3063240"/>
            <a:ext cx="2606040" cy="914400"/>
          </a:xfrm>
          <a:prstGeom prst="rect">
            <a:avLst/>
          </a:prstGeom>
          <a:solidFill>
            <a:srgbClr val="121C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1272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Silhouette (hosts)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0.171 - 0.366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Hosts cluster more naturally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Host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K-Means on host portfolios  |  13 features  |  one row per 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969264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"/>
                <a:gridCol w="2468880"/>
                <a:gridCol w="1097280"/>
                <a:gridCol w="731520"/>
                <a:gridCol w="3566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Hosts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Key signal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London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Passive Listers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6,788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12.2%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53% response, 24% acceptance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London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Professional Superhosts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9,925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17.8%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79% superhost, 4+ listings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London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Occasional Hosts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38,933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70.0%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99% response, 81 avail. days/yr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Amsterdam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Active Superhost Operators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1,270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65% superhost, 2.83 reviews/month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Amsterdam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Part-Time Apartment Hosts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7,931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86.2%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97% entire home, 71 avail. days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Madrid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Passive Listers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665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 6.4%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19% response, 22% acceptance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Berlin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Passive Listers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1,044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60% response, 29% acceptance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526280"/>
            <a:ext cx="36576" cy="109728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526280"/>
            <a:ext cx="11201400" cy="109728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8114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Passive Listers -- Universal Platform Health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8231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Passive Listers appear in every city at 6-12% of hosts. Low response (&lt;60%) and acceptance (&lt;30%) rates. They distort supply metrics, consume listing slots, and create poor guest experiences. A tractable intervention requiring no new data collection.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LLM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Groq  |  llama-3.3-70b-versatile  |  disk-cached  |  Text-to-SQL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6400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Cache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/llm/summary?type=city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City market overview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/llm/summary?type=model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Model performance narrative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/llm/summary?type=clusters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Segment descriptions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/llm/summary?type=hosts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Host population narrative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/llm/cross-city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Cross-city comparison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31E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POST /llm/ask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NL -&gt; DuckDB SQL -&gt; answer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2E8F0"/>
                          </a:solidFill>
                        </a:rPr>
                        <a:t>Live</a:t>
                      </a:r>
                    </a:p>
                  </a:txBody>
                  <a:tcPr>
                    <a:solidFill>
                      <a:srgbClr val="1825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040880" y="1417320"/>
            <a:ext cx="36576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86600" y="1417320"/>
            <a:ext cx="4709160" cy="1463040"/>
          </a:xfrm>
          <a:prstGeom prst="rect">
            <a:avLst/>
          </a:prstGeom>
          <a:solidFill>
            <a:srgbClr val="1A253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47218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Text-to-SQL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73352"/>
            <a:ext cx="4480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Natural language -&gt; schema-aware prompt -&gt; DuckDB SQL -&gt; execute -&gt; plain-English explanation. Read-only guard prevents mutations. Returns: sql, rows (&lt;=50), row_count, explanation.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3063240"/>
            <a:ext cx="4754880" cy="1691640"/>
          </a:xfrm>
          <a:prstGeom prst="rect">
            <a:avLst/>
          </a:prstGeom>
          <a:solidFill>
            <a:srgbClr val="0D17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108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Example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337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POST /analytics/llm/ask
{
  "city": "london",
  "question": "Which 10 neighbourhoods
               have the highest median price?"
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A5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5720" cy="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Premium &amp; polarised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London median GBP 135 but mean GBP 229 -- 70% gap from luxury tail. Borough + room type explain majority of price variance.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539496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45720" cy="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Professional supply.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1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Top 10% of London hosts control 42.9% of listings. Commercial operators (0.9% of hosts) hold 15.2% of supply.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39"/>
            <a:ext cx="539496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45720" cy="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38% of supply unavailable.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9651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True active supply is ~60K, not the 96K headline figure.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539496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Tenure = best occupancy predictor.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1907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Veterans (10+ yr) achieve 92% vs 30% for new hosts -- 3x gap.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31720"/>
            <a:ext cx="539496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ML viable per-city.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07791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MAE GBP 46 to EUR 81 with LightGBM. Cross-city transfer fails (R2 = -2.058) -- per-city retraining mandatory.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39"/>
            <a:ext cx="539496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Passive Listers universal.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9651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6-12% of hosts in every city with &lt;60% response rates -- actionable platform health signal.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5394960" cy="1270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0D17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38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COMPLETION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468112"/>
            <a:ext cx="3291840" cy="411480"/>
          </a:xfrm>
          <a:prstGeom prst="roundRect">
            <a:avLst>
              <a:gd name="adj" fmla="val 8000"/>
            </a:avLst>
          </a:prstGeom>
          <a:solidFill>
            <a:srgbClr val="16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86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6EFAC"/>
                </a:solidFill>
              </a:rPr>
              <a:t>23  Completed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468112"/>
            <a:ext cx="3291840" cy="411480"/>
          </a:xfrm>
          <a:prstGeom prst="roundRect">
            <a:avLst>
              <a:gd name="adj" fmla="val 8000"/>
            </a:avLst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486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CD34D"/>
                </a:solidFill>
              </a:rPr>
              <a:t> 4  Partial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5468112"/>
            <a:ext cx="3291840" cy="411480"/>
          </a:xfrm>
          <a:prstGeom prst="roundRect">
            <a:avLst>
              <a:gd name="adj" fmla="val 8000"/>
            </a:avLst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5486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CA5A5"/>
                </a:solidFill>
              </a:rPr>
              <a:t> 3  Not done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5A5F"/>
                </a:solidFill>
              </a:rPr>
              <a:t>EXPERNE'C TALENT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3108960"/>
            <a:ext cx="2743200" cy="36576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5" y="38404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5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FastAPI  50+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9988" y="38404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9988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LightGBM  MAE GBP 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3380" y="38404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3380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K-Means  5 segments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8404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6772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Groq Text-to-SQL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0164" y="38404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0164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React  8 pages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63556" y="38404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3556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AWS EC2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bavikaran01@gmail.com  |  June 2026  |  http://13.53.108.244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